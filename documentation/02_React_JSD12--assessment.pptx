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Poppins"/>
      <p:regular r:id="rId14"/>
      <p:bold r:id="rId15"/>
      <p:italic r:id="rId16"/>
      <p:boldItalic r:id="rId17"/>
    </p:embeddedFont>
    <p:embeddedFont>
      <p:font typeface="Inter"/>
      <p:regular r:id="rId18"/>
      <p:bold r:id="rId19"/>
      <p:italic r:id="rId20"/>
      <p:boldItalic r:id="rId21"/>
    </p:embeddedFont>
    <p:embeddedFont>
      <p:font typeface="Fira Code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25457D-7E8E-4BE8-822F-21C3B4612C1A}">
  <a:tblStyle styleId="{4825457D-7E8E-4BE8-822F-21C3B4612C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5.xml"/><Relationship Id="rId22" Type="http://schemas.openxmlformats.org/officeDocument/2006/relationships/font" Target="fonts/FiraCode-regular.fntdata"/><Relationship Id="rId10" Type="http://schemas.openxmlformats.org/officeDocument/2006/relationships/slide" Target="slides/slide4.xml"/><Relationship Id="rId21" Type="http://schemas.openxmlformats.org/officeDocument/2006/relationships/font" Target="fonts/Inter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FiraCode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Inter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Int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f6b71b8b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f6b71b8b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f6b71b8b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f6b71b8b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f6b71b8b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f6b71b8b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f6b71b8b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f6b71b8b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f6b71b8b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f6b71b8b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f6b71b8b4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f6b71b8b4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f6b71b8b4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f6b71b8b4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  <a:defRPr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creenshot 2025-08-06 at 08.28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3069" y="384626"/>
            <a:ext cx="7157862" cy="4374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Screenshot 2025-08-06 at 08.33.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806" y="601911"/>
            <a:ext cx="7146388" cy="3939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title="Screenshot 2025-08-06 at 08.34.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1061" y="572762"/>
            <a:ext cx="6581878" cy="3997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title="Screenshot 2025-08-05 at 09.15.11.png"/>
          <p:cNvPicPr preferRelativeResize="0"/>
          <p:nvPr/>
        </p:nvPicPr>
        <p:blipFill rotWithShape="1">
          <a:blip r:embed="rId3">
            <a:alphaModFix/>
          </a:blip>
          <a:srcRect b="8957" l="17965" r="14422" t="14097"/>
          <a:stretch/>
        </p:blipFill>
        <p:spPr>
          <a:xfrm>
            <a:off x="1655625" y="715037"/>
            <a:ext cx="5832750" cy="3713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idx="4294967295" type="title"/>
          </p:nvPr>
        </p:nvSpPr>
        <p:spPr>
          <a:xfrm>
            <a:off x="462900" y="184500"/>
            <a:ext cx="6118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en" sz="1808">
                <a:latin typeface="Inter"/>
                <a:ea typeface="Inter"/>
                <a:cs typeface="Inter"/>
                <a:sym typeface="Inter"/>
              </a:rPr>
              <a:t>API Specification</a:t>
            </a:r>
            <a:endParaRPr b="1" sz="1808"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75" name="Google Shape;75;p17"/>
          <p:cNvGraphicFramePr/>
          <p:nvPr/>
        </p:nvGraphicFramePr>
        <p:xfrm>
          <a:off x="462900" y="1696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{4825457D-7E8E-4BE8-822F-21C3B4612C1A}</a:tableStyleId>
              </a:tblPr>
              <a:tblGrid>
                <a:gridCol w="1650625"/>
                <a:gridCol w="2530925"/>
                <a:gridCol w="3087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Methods</a:t>
                      </a:r>
                      <a:endParaRPr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URL Endpoints</a:t>
                      </a:r>
                      <a:endParaRPr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Descriptions</a:t>
                      </a:r>
                      <a:endParaRPr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GET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/members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Get a list of members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GET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/members/:memberId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Get a member by ID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POST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/members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Create a new member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PUT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/members/:memberId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Update a member by ID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DELETE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/members/:memberId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Delete a member by ID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6" name="Google Shape;76;p17"/>
          <p:cNvSpPr txBox="1"/>
          <p:nvPr/>
        </p:nvSpPr>
        <p:spPr>
          <a:xfrm>
            <a:off x="462900" y="1070175"/>
            <a:ext cx="796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🎯 </a:t>
            </a:r>
            <a:r>
              <a:rPr lang="en" sz="1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https://67eca027aa794fb3222e43e2.mockapi.io</a:t>
            </a:r>
            <a:r>
              <a:rPr b="1" lang="en" sz="1800">
                <a:solidFill>
                  <a:srgbClr val="00BEFF"/>
                </a:solidFill>
                <a:latin typeface="Fira Code"/>
                <a:ea typeface="Fira Code"/>
                <a:cs typeface="Fira Code"/>
                <a:sym typeface="Fira Code"/>
              </a:rPr>
              <a:t>/members</a:t>
            </a:r>
            <a:endParaRPr b="1" sz="1800">
              <a:solidFill>
                <a:srgbClr val="00BE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/>
        </p:nvSpPr>
        <p:spPr>
          <a:xfrm>
            <a:off x="208100" y="-21900"/>
            <a:ext cx="86922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Before you submit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: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❏"/>
            </a:pPr>
            <a:r>
              <a:rPr lang="en" sz="1200">
                <a:latin typeface="Inter"/>
                <a:ea typeface="Inter"/>
                <a:cs typeface="Inter"/>
                <a:sym typeface="Inter"/>
              </a:rPr>
              <a:t>Check that you have a markdown file named </a:t>
            </a:r>
            <a:r>
              <a:rPr b="1" lang="en" sz="1200">
                <a:solidFill>
                  <a:schemeClr val="accent5"/>
                </a:solidFill>
                <a:latin typeface="Fira Code"/>
                <a:ea typeface="Fira Code"/>
                <a:cs typeface="Fira Code"/>
                <a:sym typeface="Fira Code"/>
              </a:rPr>
              <a:t>my-understanding.md</a:t>
            </a:r>
            <a:r>
              <a:rPr b="1" lang="en" sz="1200"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1" lang="en" sz="1200" u="sng">
                <a:latin typeface="Fira Code"/>
                <a:ea typeface="Fira Code"/>
                <a:cs typeface="Fira Code"/>
                <a:sym typeface="Fira Code"/>
              </a:rPr>
              <a:t>written in your own words</a:t>
            </a:r>
            <a:r>
              <a:rPr b="1" lang="en" sz="1200">
                <a:latin typeface="Fira Code"/>
                <a:ea typeface="Fira Code"/>
                <a:cs typeface="Fira Code"/>
                <a:sym typeface="Fira Code"/>
              </a:rPr>
              <a:t>.</a:t>
            </a:r>
            <a:endParaRPr b="1" sz="1200">
              <a:latin typeface="Fira Code"/>
              <a:ea typeface="Fira Code"/>
              <a:cs typeface="Fira Code"/>
              <a:sym typeface="Fira Code"/>
            </a:endParaRPr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❏"/>
            </a:pPr>
            <a:r>
              <a:rPr b="1" lang="en" sz="1200">
                <a:latin typeface="Inter"/>
                <a:ea typeface="Inter"/>
                <a:cs typeface="Inter"/>
                <a:sym typeface="Inter"/>
              </a:rPr>
              <a:t>Use this file to explain your </a:t>
            </a:r>
            <a:r>
              <a:rPr b="1" lang="en" sz="1200">
                <a:highlight>
                  <a:schemeClr val="accent6"/>
                </a:highlight>
                <a:latin typeface="Inter"/>
                <a:ea typeface="Inter"/>
                <a:cs typeface="Inter"/>
                <a:sym typeface="Inter"/>
              </a:rPr>
              <a:t>technical design decisions</a:t>
            </a:r>
            <a:r>
              <a:rPr b="1" lang="en" sz="1200">
                <a:latin typeface="Inter"/>
                <a:ea typeface="Inter"/>
                <a:cs typeface="Inter"/>
                <a:sym typeface="Inter"/>
              </a:rPr>
              <a:t> for example, 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  <a:p>
            <a:pPr indent="-30480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❏"/>
            </a:pPr>
            <a:r>
              <a:rPr b="1" lang="en" sz="1200">
                <a:latin typeface="Inter"/>
                <a:ea typeface="Inter"/>
                <a:cs typeface="Inter"/>
                <a:sym typeface="Inter"/>
              </a:rPr>
              <a:t>explain how and why you divided the app’s UI into components, 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  <a:p>
            <a:pPr indent="-30480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❏"/>
            </a:pPr>
            <a:r>
              <a:rPr b="1" lang="en" sz="1200">
                <a:latin typeface="Inter"/>
                <a:ea typeface="Inter"/>
                <a:cs typeface="Inter"/>
                <a:sym typeface="Inter"/>
              </a:rPr>
              <a:t>what state variables did you created and why?, 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  <a:p>
            <a:pPr indent="-30480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❏"/>
            </a:pPr>
            <a:r>
              <a:rPr b="1" lang="en" sz="1200">
                <a:latin typeface="Inter"/>
                <a:ea typeface="Inter"/>
                <a:cs typeface="Inter"/>
                <a:sym typeface="Inter"/>
              </a:rPr>
              <a:t>How did you manage these states? Was it via Passing Props or React Context, why? 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  <a:p>
            <a:pPr indent="-30480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❏"/>
            </a:pPr>
            <a:r>
              <a:rPr b="1" lang="en" sz="1200">
                <a:latin typeface="Inter"/>
                <a:ea typeface="Inter"/>
                <a:cs typeface="Inter"/>
                <a:sym typeface="Inter"/>
              </a:rPr>
              <a:t>Explain how and why you used the useEffect hook?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  <a:p>
            <a:pPr indent="-30480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❏"/>
            </a:pPr>
            <a:r>
              <a:rPr b="1" lang="en" sz="1200">
                <a:latin typeface="Inter"/>
                <a:ea typeface="Inter"/>
                <a:cs typeface="Inter"/>
                <a:sym typeface="Inter"/>
              </a:rPr>
              <a:t>Explain whether you could and why, you would use fetch() without using useEffect?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  <a:p>
            <a:pPr indent="-30480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❏"/>
            </a:pPr>
            <a:r>
              <a:rPr b="1" lang="en" sz="1200">
                <a:latin typeface="Inter"/>
                <a:ea typeface="Inter"/>
                <a:cs typeface="Inter"/>
                <a:sym typeface="Inter"/>
              </a:rPr>
              <a:t>Explain whether the use of fetch() should be </a:t>
            </a:r>
            <a:r>
              <a:rPr b="1" lang="en" sz="1200">
                <a:latin typeface="Inter"/>
                <a:ea typeface="Inter"/>
                <a:cs typeface="Inter"/>
                <a:sym typeface="Inter"/>
              </a:rPr>
              <a:t>synchronous</a:t>
            </a:r>
            <a:r>
              <a:rPr b="1" lang="en" sz="1200">
                <a:latin typeface="Inter"/>
                <a:ea typeface="Inter"/>
                <a:cs typeface="Inter"/>
                <a:sym typeface="Inter"/>
              </a:rPr>
              <a:t> or asynchronous JavaScript, </a:t>
            </a:r>
            <a:r>
              <a:rPr b="1" lang="en" sz="1200">
                <a:latin typeface="Inter"/>
                <a:ea typeface="Inter"/>
                <a:cs typeface="Inter"/>
                <a:sym typeface="Inter"/>
              </a:rPr>
              <a:t>why? 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  <a:p>
            <a:pPr indent="-30480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❏"/>
            </a:pPr>
            <a:r>
              <a:rPr b="1" lang="en" sz="1200">
                <a:latin typeface="Inter"/>
                <a:ea typeface="Inter"/>
                <a:cs typeface="Inter"/>
                <a:sym typeface="Inter"/>
              </a:rPr>
              <a:t>Include any other notes about React and Frontend Web Development you want to summarize your understanding of this technical domain . You can also note down questions you have.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  <a:p>
            <a:pPr indent="-30480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❏"/>
            </a:pPr>
            <a:r>
              <a:rPr b="1" lang="en" sz="1200">
                <a:latin typeface="Inter"/>
                <a:ea typeface="Inter"/>
                <a:cs typeface="Inter"/>
                <a:sym typeface="Inter"/>
              </a:rPr>
              <a:t>Lastly, submit your repo url here and indicate your reliance on AI code generation (0-5)</a:t>
            </a:r>
            <a:endParaRPr b="1" sz="11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/>
        </p:nvSpPr>
        <p:spPr>
          <a:xfrm>
            <a:off x="225900" y="262950"/>
            <a:ext cx="86922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Inter"/>
                <a:ea typeface="Inter"/>
                <a:cs typeface="Inter"/>
                <a:sym typeface="Inter"/>
              </a:rPr>
              <a:t>AI Use Reflection Scale: How much did AI help you build this?</a:t>
            </a:r>
            <a:endParaRPr b="1" sz="15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Inter"/>
                <a:ea typeface="Inter"/>
                <a:cs typeface="Inter"/>
                <a:sym typeface="Inter"/>
              </a:rPr>
              <a:t>0 = No AI use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nter"/>
                <a:ea typeface="Inter"/>
                <a:cs typeface="Inter"/>
                <a:sym typeface="Inter"/>
              </a:rPr>
              <a:t>I did not use AI to generate code, explain concepts, debug, or teach me.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Inter"/>
                <a:ea typeface="Inter"/>
                <a:cs typeface="Inter"/>
                <a:sym typeface="Inter"/>
              </a:rPr>
              <a:t>1 = AI used only for learning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nter"/>
                <a:ea typeface="Inter"/>
                <a:cs typeface="Inter"/>
                <a:sym typeface="Inter"/>
              </a:rPr>
              <a:t>I did not use AI to generate code, but I used AI to explain concepts, clarify errors, or guide my understanding.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Inter"/>
                <a:ea typeface="Inter"/>
                <a:cs typeface="Inter"/>
                <a:sym typeface="Inter"/>
              </a:rPr>
              <a:t>2 = Mixed coding with AI support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nter"/>
                <a:ea typeface="Inter"/>
                <a:cs typeface="Inter"/>
                <a:sym typeface="Inter"/>
              </a:rPr>
              <a:t>I wrote some code myself and used some AI-generated code. I also used AI to help me understand, debug, or improve my solution.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Inter"/>
                <a:ea typeface="Inter"/>
                <a:cs typeface="Inter"/>
                <a:sym typeface="Inter"/>
              </a:rPr>
              <a:t>3 = Learned from AI-generated code, then coded myself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nter"/>
                <a:ea typeface="Inter"/>
                <a:cs typeface="Inter"/>
                <a:sym typeface="Inter"/>
              </a:rPr>
              <a:t>AI generated example code or guidance, but I used that understanding to write or adapt the final code myself.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Inter"/>
                <a:ea typeface="Inter"/>
                <a:cs typeface="Inter"/>
                <a:sym typeface="Inter"/>
              </a:rPr>
              <a:t>4 = AI generated the code, but I fully understand it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nter"/>
                <a:ea typeface="Inter"/>
                <a:cs typeface="Inter"/>
                <a:sym typeface="Inter"/>
              </a:rPr>
              <a:t>AI generated most or all of the code, but I can explain how it works, why it works, and how the main parts connect.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Inter"/>
                <a:ea typeface="Inter"/>
                <a:cs typeface="Inter"/>
                <a:sym typeface="Inter"/>
              </a:rPr>
              <a:t>5 = AI generated the code with limited understanding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nter"/>
                <a:ea typeface="Inter"/>
                <a:cs typeface="Inter"/>
                <a:sym typeface="Inter"/>
              </a:rPr>
              <a:t>AI generated most or all of the code, and I cannot confidently explain how or why everything works.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 - 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